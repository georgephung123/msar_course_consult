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7"/>
  </p:notesMasterIdLst>
  <p:sldIdLst>
    <p:sldId id="256" r:id="rId5"/>
    <p:sldId id="268" r:id="rId6"/>
    <p:sldId id="259" r:id="rId7"/>
    <p:sldId id="264" r:id="rId8"/>
    <p:sldId id="265" r:id="rId9"/>
    <p:sldId id="260" r:id="rId10"/>
    <p:sldId id="263" r:id="rId11"/>
    <p:sldId id="261" r:id="rId12"/>
    <p:sldId id="262" r:id="rId13"/>
    <p:sldId id="266" r:id="rId14"/>
    <p:sldId id="267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72" autoAdjust="0"/>
    <p:restoredTop sz="94658"/>
  </p:normalViewPr>
  <p:slideViewPr>
    <p:cSldViewPr snapToGrid="0">
      <p:cViewPr varScale="1">
        <p:scale>
          <a:sx n="79" d="100"/>
          <a:sy n="79" d="100"/>
        </p:scale>
        <p:origin x="437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2A25F1-9CB4-574D-9A10-2031563C478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B0CD82-A17D-DA42-BDBA-66B24A274F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206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82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96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89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37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933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792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03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444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6035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07262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67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09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871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960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26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398FABF-7BBB-4FC4-B3E3-346BCB227DD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869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86274-BBC9-8900-3263-CFEA1174D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MSAR Findings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EF6697-2460-47BB-83AD-C9EA6BAFA5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George Phung</a:t>
            </a:r>
          </a:p>
        </p:txBody>
      </p:sp>
    </p:spTree>
    <p:extLst>
      <p:ext uri="{BB962C8B-B14F-4D97-AF65-F5344CB8AC3E}">
        <p14:creationId xmlns:p14="http://schemas.microsoft.com/office/powerpoint/2010/main" val="3441271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3C8A2-8394-EBB5-D4C2-7E08BAD1E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8C2F0-4C0D-EB92-E88F-EB5E919B0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Asked questions about the PDF</a:t>
            </a:r>
          </a:p>
          <a:p>
            <a:pPr lvl="1"/>
            <a:r>
              <a:rPr lang="en-US" dirty="0"/>
              <a:t>What’s the ratio of medical schools accepting online biochemistry credit?</a:t>
            </a:r>
          </a:p>
          <a:p>
            <a:r>
              <a:rPr lang="en-US" dirty="0"/>
              <a:t>Looked for specific pages that could potentially interfere my web scrapping program</a:t>
            </a:r>
          </a:p>
          <a:p>
            <a:r>
              <a:rPr lang="en-US" dirty="0"/>
              <a:t>Took notes on interesting things within the table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663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70BAC-F80F-A7A1-11E4-3B749444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Various Findings/Notes within the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8DBFF-201D-E10F-412B-6F0F90BD5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 the Additional Info section, a quarter refers to a 10-week “session” compared the semester where a session typically lasts for 15 weeks</a:t>
            </a:r>
          </a:p>
          <a:p>
            <a:r>
              <a:rPr lang="en-US" dirty="0"/>
              <a:t>BESS under the Class column stands for Behavioral and Social Sciences</a:t>
            </a:r>
          </a:p>
          <a:p>
            <a:r>
              <a:rPr lang="en-US" dirty="0"/>
              <a:t>Some medical schools uses AMCAS to determine which courses are eligible are not</a:t>
            </a:r>
          </a:p>
          <a:p>
            <a:r>
              <a:rPr lang="en-US" dirty="0"/>
              <a:t>Some medical schools accept online course credit, given if it was during the COVID-19 pandemic</a:t>
            </a:r>
          </a:p>
          <a:p>
            <a:r>
              <a:rPr lang="en-US" dirty="0"/>
              <a:t>Most schools require 1 academic year of physics, English, chemistry, and biology</a:t>
            </a:r>
          </a:p>
          <a:p>
            <a:r>
              <a:rPr lang="en-US" dirty="0"/>
              <a:t>There are also medical schools in Canada and Puerto Rico listed</a:t>
            </a:r>
          </a:p>
        </p:txBody>
      </p:sp>
    </p:spTree>
    <p:extLst>
      <p:ext uri="{BB962C8B-B14F-4D97-AF65-F5344CB8AC3E}">
        <p14:creationId xmlns:p14="http://schemas.microsoft.com/office/powerpoint/2010/main" val="13745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60825-3903-7C9D-B341-87DA7F0D0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D5F44-9E3C-EFE5-15F4-7BE4E438F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600" y="1690688"/>
            <a:ext cx="606233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Data originally stored in PDF with tables</a:t>
            </a:r>
          </a:p>
          <a:p>
            <a:r>
              <a:rPr lang="en-US" dirty="0"/>
              <a:t>Steps taken to parse:</a:t>
            </a:r>
          </a:p>
          <a:p>
            <a:pPr lvl="1"/>
            <a:r>
              <a:rPr lang="en-US" dirty="0"/>
              <a:t>Took all images within the tables using pdf plumber</a:t>
            </a:r>
          </a:p>
          <a:p>
            <a:pPr lvl="1"/>
            <a:r>
              <a:rPr lang="en-US" dirty="0"/>
              <a:t>Extracted the RGB value of each image and assigned it to a value (1, 0, or -1) depending on the RGB values</a:t>
            </a:r>
          </a:p>
          <a:p>
            <a:pPr lvl="1"/>
            <a:r>
              <a:rPr lang="en-US" dirty="0"/>
              <a:t>Used Camelot to extract the text from the table and organized into a pandas </a:t>
            </a:r>
            <a:r>
              <a:rPr lang="en-US" dirty="0" err="1"/>
              <a:t>DataFrame</a:t>
            </a:r>
            <a:r>
              <a:rPr lang="en-US" dirty="0"/>
              <a:t> for each page</a:t>
            </a:r>
          </a:p>
          <a:p>
            <a:pPr lvl="1"/>
            <a:r>
              <a:rPr lang="en-US" dirty="0"/>
              <a:t>Combined the RGB value data and the </a:t>
            </a:r>
            <a:r>
              <a:rPr lang="en-US" dirty="0" err="1"/>
              <a:t>DataFrame</a:t>
            </a:r>
            <a:r>
              <a:rPr lang="en-US" dirty="0"/>
              <a:t> table</a:t>
            </a:r>
          </a:p>
          <a:p>
            <a:pPr lvl="1"/>
            <a:r>
              <a:rPr lang="en-US" dirty="0"/>
              <a:t>Appended the </a:t>
            </a:r>
            <a:r>
              <a:rPr lang="en-US" dirty="0" err="1"/>
              <a:t>DataFrame</a:t>
            </a:r>
            <a:r>
              <a:rPr lang="en-US" dirty="0"/>
              <a:t> per page</a:t>
            </a:r>
          </a:p>
          <a:p>
            <a:pPr lvl="1"/>
            <a:endParaRPr lang="en-US" dirty="0"/>
          </a:p>
          <a:p>
            <a:r>
              <a:rPr lang="en-US" dirty="0"/>
              <a:t>Data outputted as a csv containing it’s raw data and a </a:t>
            </a:r>
            <a:r>
              <a:rPr lang="en-US" dirty="0" err="1"/>
              <a:t>xslx</a:t>
            </a:r>
            <a:r>
              <a:rPr lang="en-US" dirty="0"/>
              <a:t> with filtered data</a:t>
            </a:r>
          </a:p>
          <a:p>
            <a:r>
              <a:rPr lang="en-US" dirty="0"/>
              <a:t>Analysis was performed using pandas, </a:t>
            </a:r>
            <a:r>
              <a:rPr lang="en-US" dirty="0" err="1"/>
              <a:t>numpy</a:t>
            </a:r>
            <a:r>
              <a:rPr lang="en-US" dirty="0"/>
              <a:t>, pillow, Camelot, and </a:t>
            </a:r>
            <a:r>
              <a:rPr lang="en-US" dirty="0" err="1"/>
              <a:t>pdfplumber</a:t>
            </a:r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DC6C14-AE52-8B50-7109-4EC87B163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594" y="0"/>
            <a:ext cx="6091406" cy="370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104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27650-8765-1AEF-C2D4-351AA802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9DF9F-5AC6-F921-C130-38AE8DD8A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08498" cy="4351338"/>
          </a:xfrm>
        </p:spPr>
        <p:txBody>
          <a:bodyPr/>
          <a:lstStyle/>
          <a:p>
            <a:r>
              <a:rPr lang="en-US" dirty="0"/>
              <a:t>Created code for the following statistics:</a:t>
            </a:r>
          </a:p>
          <a:p>
            <a:pPr lvl="1"/>
            <a:r>
              <a:rPr lang="en-US" dirty="0"/>
              <a:t>Mean</a:t>
            </a:r>
          </a:p>
          <a:p>
            <a:pPr lvl="1"/>
            <a:r>
              <a:rPr lang="en-US" dirty="0"/>
              <a:t>Comparison to states</a:t>
            </a:r>
          </a:p>
          <a:p>
            <a:pPr lvl="1"/>
            <a:r>
              <a:rPr lang="en-US" dirty="0"/>
              <a:t>Comparison across courses</a:t>
            </a:r>
          </a:p>
          <a:p>
            <a:pPr lvl="1"/>
            <a:r>
              <a:rPr lang="en-US" dirty="0"/>
              <a:t>Did a Kruskal-Wallis test</a:t>
            </a:r>
          </a:p>
        </p:txBody>
      </p:sp>
      <p:pic>
        <p:nvPicPr>
          <p:cNvPr id="6" name="Picture 5" descr="A computer screen with text and numbers&#10;&#10;AI-generated content may be incorrect.">
            <a:extLst>
              <a:ext uri="{FF2B5EF4-FFF2-40B4-BE49-F238E27FC236}">
                <a16:creationId xmlns:a16="http://schemas.microsoft.com/office/drawing/2014/main" id="{BC7B42A6-B41C-991E-ABB5-6F37D625B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170" y="1650313"/>
            <a:ext cx="7871581" cy="426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18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47420-FA2F-EF2E-64D9-077CE83D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statistics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2EB0E-E86C-E1B6-89C4-FC457FF41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Schools w/ online BCHM:</a:t>
            </a:r>
          </a:p>
          <a:p>
            <a:pPr lvl="1"/>
            <a:r>
              <a:rPr lang="en-US" dirty="0"/>
              <a:t>Schools that allow online BCHM: 76 (59.4%)</a:t>
            </a:r>
          </a:p>
          <a:p>
            <a:pPr lvl="1"/>
            <a:r>
              <a:rPr lang="en-US" dirty="0"/>
              <a:t>Schools that do not allow online BCHM: 24 (18.4%)</a:t>
            </a:r>
          </a:p>
          <a:p>
            <a:pPr lvl="1"/>
            <a:r>
              <a:rPr lang="en-US" dirty="0"/>
              <a:t>Case-by-Case: 28 (21.9%)</a:t>
            </a:r>
          </a:p>
          <a:p>
            <a:r>
              <a:rPr lang="en-US" dirty="0"/>
              <a:t>Schools w/ CC BCHM:</a:t>
            </a:r>
          </a:p>
          <a:p>
            <a:pPr lvl="1"/>
            <a:r>
              <a:rPr lang="en-US" dirty="0"/>
              <a:t>Schools that allow BCHM from CC: 101 (78.9%)</a:t>
            </a:r>
          </a:p>
          <a:p>
            <a:pPr lvl="1"/>
            <a:r>
              <a:rPr lang="en-US" dirty="0"/>
              <a:t>Schools that do not allow BCHM from CC: 16 (12.5%)</a:t>
            </a:r>
          </a:p>
          <a:p>
            <a:pPr lvl="1"/>
            <a:r>
              <a:rPr lang="en-US" dirty="0"/>
              <a:t>Case-by-Case: 11 (8.6%)</a:t>
            </a:r>
          </a:p>
        </p:txBody>
      </p:sp>
    </p:spTree>
    <p:extLst>
      <p:ext uri="{BB962C8B-B14F-4D97-AF65-F5344CB8AC3E}">
        <p14:creationId xmlns:p14="http://schemas.microsoft.com/office/powerpoint/2010/main" val="1042174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E47C5-744A-CE22-468E-01B2E15FB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CF575-3333-776D-5049-233BCAD12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Schools w/ online BESS:</a:t>
            </a:r>
          </a:p>
          <a:p>
            <a:pPr lvl="1"/>
            <a:r>
              <a:rPr lang="en-US" dirty="0"/>
              <a:t>Schools that allow online BESS: 10 (52.6%)</a:t>
            </a:r>
          </a:p>
          <a:p>
            <a:pPr lvl="1"/>
            <a:r>
              <a:rPr lang="en-US" dirty="0"/>
              <a:t>Schools that do not allow online BESS: 2 (10.5%)</a:t>
            </a:r>
          </a:p>
          <a:p>
            <a:pPr lvl="1"/>
            <a:r>
              <a:rPr lang="en-US" dirty="0"/>
              <a:t>Case-by-Case: 7 (36.8%)</a:t>
            </a:r>
          </a:p>
          <a:p>
            <a:r>
              <a:rPr lang="en-US" dirty="0"/>
              <a:t>Schools w/ online BIOL:</a:t>
            </a:r>
          </a:p>
          <a:p>
            <a:pPr lvl="1"/>
            <a:r>
              <a:rPr lang="en-US" dirty="0"/>
              <a:t>Schools that allow online BIOL: 200 (59.0%)</a:t>
            </a:r>
          </a:p>
          <a:p>
            <a:pPr lvl="1"/>
            <a:r>
              <a:rPr lang="en-US" dirty="0"/>
              <a:t>Schools that do not allow online BIOL: 47 (13.9%)</a:t>
            </a:r>
          </a:p>
          <a:p>
            <a:pPr lvl="1"/>
            <a:r>
              <a:rPr lang="en-US" dirty="0"/>
              <a:t>Case-by-Case: 92 (27.1%)</a:t>
            </a:r>
          </a:p>
          <a:p>
            <a:r>
              <a:rPr lang="en-US" dirty="0"/>
              <a:t>A Kruskal-Wallis test found no significant relationship between course type and medical-school acceptance ratios (p = 0.41).</a:t>
            </a:r>
          </a:p>
        </p:txBody>
      </p:sp>
    </p:spTree>
    <p:extLst>
      <p:ext uri="{BB962C8B-B14F-4D97-AF65-F5344CB8AC3E}">
        <p14:creationId xmlns:p14="http://schemas.microsoft.com/office/powerpoint/2010/main" val="2376397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united states&#10;&#10;AI-generated content may be incorrect.">
            <a:extLst>
              <a:ext uri="{FF2B5EF4-FFF2-40B4-BE49-F238E27FC236}">
                <a16:creationId xmlns:a16="http://schemas.microsoft.com/office/drawing/2014/main" id="{B088A653-6B86-8C1B-A9FB-2F14A3CE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682" y="965200"/>
            <a:ext cx="7150635" cy="4290381"/>
          </a:xfrm>
          <a:prstGeom prst="rect">
            <a:avLst/>
          </a:prstGeom>
          <a:ln w="190500">
            <a:solidFill>
              <a:srgbClr val="FFFFFF"/>
            </a:solidFill>
          </a:ln>
          <a:effectLst>
            <a:reflection blurRad="38100" stA="52000" endA="300" endPos="30000" dir="5400000" sy="-100000" algn="bl" rotWithShape="0"/>
            <a:softEdge rad="19050"/>
          </a:effectLst>
        </p:spPr>
      </p:pic>
    </p:spTree>
    <p:extLst>
      <p:ext uri="{BB962C8B-B14F-4D97-AF65-F5344CB8AC3E}">
        <p14:creationId xmlns:p14="http://schemas.microsoft.com/office/powerpoint/2010/main" val="3007140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6F4A75A-AE6E-48E5-8C9B-62D0A953E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77678" y="2627791"/>
            <a:ext cx="6235148" cy="359203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9600" b="0" kern="120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effectLst>
                <a:outerShdw blurRad="469900" dist="342900" dir="5400000" sy="-20000" rotWithShape="0">
                  <a:schemeClr val="bg1"/>
                </a:outerShdw>
              </a:effectLst>
            </a:endParaRPr>
          </a:p>
        </p:txBody>
      </p:sp>
      <p:sp>
        <p:nvSpPr>
          <p:cNvPr id="9" name="Rounded Rectangle 18">
            <a:extLst>
              <a:ext uri="{FF2B5EF4-FFF2-40B4-BE49-F238E27FC236}">
                <a16:creationId xmlns:a16="http://schemas.microsoft.com/office/drawing/2014/main" id="{5FE0DFF3-0858-4641-9E40-6BE7ACCC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70" cy="5126188"/>
          </a:xfrm>
          <a:prstGeom prst="roundRect">
            <a:avLst>
              <a:gd name="adj" fmla="val 2028"/>
            </a:avLst>
          </a:prstGeom>
          <a:solidFill>
            <a:schemeClr val="tx1"/>
          </a:solidFill>
          <a:ln>
            <a:solidFill>
              <a:schemeClr val="accent1">
                <a:shade val="50000"/>
              </a:schemeClr>
            </a:solidFill>
          </a:ln>
          <a:effectLst>
            <a:innerShdw blurRad="127000" dist="12700">
              <a:prstClr val="black"/>
            </a:innerShdw>
            <a:reflection blurRad="6350" stA="52000" endA="300" endPos="20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7F9472D-BBF7-AEC9-CB77-3F3E0F7A4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085" y="957390"/>
            <a:ext cx="7785283" cy="449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4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D0EA6-E7C7-0A1F-1078-0E13B44D2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Outputs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D5EA6-3F36-36EE-E064-A05565082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Did more specific categorization based on the class column</a:t>
            </a:r>
          </a:p>
          <a:p>
            <a:pPr lvl="1"/>
            <a:endParaRPr lang="en-US" dirty="0"/>
          </a:p>
          <a:p>
            <a:r>
              <a:rPr lang="en-US" dirty="0"/>
              <a:t>Data stored as</a:t>
            </a:r>
          </a:p>
          <a:p>
            <a:pPr lvl="1"/>
            <a:r>
              <a:rPr lang="en-US" dirty="0"/>
              <a:t>Excel file(s)</a:t>
            </a:r>
          </a:p>
          <a:p>
            <a:pPr lvl="2"/>
            <a:r>
              <a:rPr lang="en-US" dirty="0"/>
              <a:t>data_table.xlsx – has the raw data + some extra filtered tables</a:t>
            </a:r>
          </a:p>
          <a:p>
            <a:pPr lvl="2"/>
            <a:r>
              <a:rPr lang="en-US" dirty="0"/>
              <a:t>unique_courses.xlsx – counts of each unique course</a:t>
            </a:r>
          </a:p>
          <a:p>
            <a:pPr lvl="1"/>
            <a:r>
              <a:rPr lang="en-US" dirty="0"/>
              <a:t>CSV files</a:t>
            </a:r>
          </a:p>
          <a:p>
            <a:pPr lvl="2"/>
            <a:r>
              <a:rPr lang="en-US" dirty="0"/>
              <a:t>MSAR_table.csv – raw data</a:t>
            </a:r>
          </a:p>
          <a:p>
            <a:pPr lvl="2"/>
            <a:r>
              <a:rPr lang="en-US" dirty="0"/>
              <a:t>edited_MSAR_table.csv – raw data w/ edited class columns to be more specific</a:t>
            </a:r>
          </a:p>
        </p:txBody>
      </p:sp>
    </p:spTree>
    <p:extLst>
      <p:ext uri="{BB962C8B-B14F-4D97-AF65-F5344CB8AC3E}">
        <p14:creationId xmlns:p14="http://schemas.microsoft.com/office/powerpoint/2010/main" val="935698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2628C-4BBF-0022-6B38-37D5A6B3E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50213-EEE2-7F32-2408-8987A6541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look at the Required or Recommended Column</a:t>
            </a:r>
          </a:p>
          <a:p>
            <a:r>
              <a:rPr lang="en-US" dirty="0"/>
              <a:t>We can join a data set containing the median MCAT score accepted</a:t>
            </a:r>
          </a:p>
          <a:p>
            <a:r>
              <a:rPr lang="en-US" dirty="0"/>
              <a:t>Do medical schools who accept AP credit for a class also accept AP credit for another class?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600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6849F-805A-CD0E-77D2-C28D9D91A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4833" y="2648706"/>
            <a:ext cx="7662333" cy="1325563"/>
          </a:xfrm>
        </p:spPr>
        <p:txBody>
          <a:bodyPr>
            <a:noAutofit/>
          </a:bodyPr>
          <a:lstStyle/>
          <a:p>
            <a:r>
              <a:rPr lang="en-US" sz="80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0976504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f441578-6221-4376-8ce6-60a772b8ffa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4BFAFF644FAF4FA04600AC54340588" ma:contentTypeVersion="6" ma:contentTypeDescription="Create a new document." ma:contentTypeScope="" ma:versionID="e2ad9896c38ba8f2e8fbffed61ca1e05">
  <xsd:schema xmlns:xsd="http://www.w3.org/2001/XMLSchema" xmlns:xs="http://www.w3.org/2001/XMLSchema" xmlns:p="http://schemas.microsoft.com/office/2006/metadata/properties" xmlns:ns3="7f441578-6221-4376-8ce6-60a772b8ffab" targetNamespace="http://schemas.microsoft.com/office/2006/metadata/properties" ma:root="true" ma:fieldsID="8d797c5d037715e70c615c48b602449b" ns3:_="">
    <xsd:import namespace="7f441578-6221-4376-8ce6-60a772b8ffa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441578-6221-4376-8ce6-60a772b8ffa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363BA3-762C-463F-93F3-01CBC8DE6D1D}">
  <ds:schemaRefs>
    <ds:schemaRef ds:uri="7f441578-6221-4376-8ce6-60a772b8ffab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D058B0FA-4823-4910-85CD-C6660BE53D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441578-6221-4376-8ce6-60a772b8ff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4810B37-0855-4450-9C32-C6BC2A86203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2064</TotalTime>
  <Words>554</Words>
  <Application>Microsoft Office PowerPoint</Application>
  <PresentationFormat>Widescreen</PresentationFormat>
  <Paragraphs>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Corbel</vt:lpstr>
      <vt:lpstr>Depth</vt:lpstr>
      <vt:lpstr>MSAR Findings</vt:lpstr>
      <vt:lpstr>First Steps</vt:lpstr>
      <vt:lpstr>Various Findings/Notes within the table</vt:lpstr>
      <vt:lpstr>Data Parsing</vt:lpstr>
      <vt:lpstr>Data Analysis </vt:lpstr>
      <vt:lpstr>Basic statistics </vt:lpstr>
      <vt:lpstr>Other classes</vt:lpstr>
      <vt:lpstr>PowerPoint Presentation</vt:lpstr>
      <vt:lpstr>PowerPoint Presentation</vt:lpstr>
      <vt:lpstr>Data Outputs </vt:lpstr>
      <vt:lpstr>Data Future Directions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Phung, George</dc:creator>
  <cp:lastModifiedBy>Phung, George</cp:lastModifiedBy>
  <cp:revision>17</cp:revision>
  <dcterms:created xsi:type="dcterms:W3CDTF">2025-11-11T18:19:29Z</dcterms:created>
  <dcterms:modified xsi:type="dcterms:W3CDTF">2025-12-09T17:51:37Z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0x010100844BFAFF644FAF4FA04600AC54340588</vt:lpwstr>
  </property>
</Properties>
</file>