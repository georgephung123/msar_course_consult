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7"/>
  </p:notesMasterIdLst>
  <p:sldIdLst>
    <p:sldId id="256" r:id="rId5"/>
    <p:sldId id="268" r:id="rId6"/>
    <p:sldId id="259" r:id="rId7"/>
    <p:sldId id="264" r:id="rId8"/>
    <p:sldId id="265" r:id="rId9"/>
    <p:sldId id="260" r:id="rId10"/>
    <p:sldId id="263" r:id="rId11"/>
    <p:sldId id="261" r:id="rId12"/>
    <p:sldId id="262" r:id="rId13"/>
    <p:sldId id="257" r:id="rId14"/>
    <p:sldId id="266" r:id="rId15"/>
    <p:sldId id="267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72" autoAdjust="0"/>
    <p:restoredTop sz="94658"/>
  </p:normalViewPr>
  <p:slideViewPr>
    <p:cSldViewPr snapToGrid="0">
      <p:cViewPr varScale="1">
        <p:scale>
          <a:sx n="79" d="100"/>
          <a:sy n="79" d="100"/>
        </p:scale>
        <p:origin x="437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2A25F1-9CB4-574D-9A10-2031563C4788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B0CD82-A17D-DA42-BDBA-66B24A274F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206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B0CD82-A17D-DA42-BDBA-66B24A274F0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6258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4464028"/>
            <a:ext cx="9144000" cy="1641490"/>
          </a:xfrm>
        </p:spPr>
        <p:txBody>
          <a:bodyPr wrap="none" anchor="t">
            <a:normAutofit/>
          </a:bodyPr>
          <a:lstStyle>
            <a:lvl1pPr algn="r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9799" y="3694375"/>
            <a:ext cx="9144000" cy="754025"/>
          </a:xfrm>
        </p:spPr>
        <p:txBody>
          <a:bodyPr anchor="b">
            <a:normAutofit/>
          </a:bodyPr>
          <a:lstStyle>
            <a:lvl1pPr marL="0" indent="0" algn="r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828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7967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854532" y="4464028"/>
            <a:ext cx="9144000" cy="1641490"/>
          </a:xfrm>
        </p:spPr>
        <p:txBody>
          <a:bodyPr wrap="none" anchor="t">
            <a:normAutofit/>
          </a:bodyPr>
          <a:lstStyle>
            <a:lvl1pPr algn="l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854532" y="3693674"/>
            <a:ext cx="9144000" cy="754025"/>
          </a:xfrm>
        </p:spPr>
        <p:txBody>
          <a:bodyPr anchor="b">
            <a:normAutofit/>
          </a:bodyPr>
          <a:lstStyle>
            <a:lvl1pPr marL="0" indent="0" algn="l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5898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20000" y="1825625"/>
            <a:ext cx="5025216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19840" y="1825625"/>
            <a:ext cx="50339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27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681163"/>
            <a:ext cx="5025216" cy="823912"/>
          </a:xfrm>
        </p:spPr>
        <p:txBody>
          <a:bodyPr anchor="b"/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20000" y="2505075"/>
            <a:ext cx="502521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19840" y="1681163"/>
            <a:ext cx="5035548" cy="823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19840" y="2505075"/>
            <a:ext cx="503554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371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9332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7929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9037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03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67160"/>
            <a:ext cx="10515600" cy="8193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39788" y="987425"/>
            <a:ext cx="10515600" cy="33797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186516"/>
            <a:ext cx="10514012" cy="682472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444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489399"/>
            <a:ext cx="10514012" cy="1501826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6035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365125"/>
            <a:ext cx="9302752" cy="2992904"/>
          </a:xfrm>
        </p:spPr>
        <p:txBody>
          <a:bodyPr anchor="ctr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200" y="4501729"/>
            <a:ext cx="10512424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111044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072628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326967"/>
            <a:ext cx="10515600" cy="251183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50581"/>
            <a:ext cx="10514012" cy="1140644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3674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337282" y="188595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356798" y="257175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87994" y="1885950"/>
            <a:ext cx="2936241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77441" y="257175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29035" y="1885950"/>
            <a:ext cx="2932113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29035" y="257175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2092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332085" y="4297503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2085" y="2256354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332085" y="4873765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997" y="4297503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56354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7644" y="4873764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04322" y="4297503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04321" y="2256354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04197" y="4873762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871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9602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526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58697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86274-BBC9-8900-3263-CFEA1174D2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MSAR Findings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EF6697-2460-47BB-83AD-C9EA6BAFA5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By: George Phung</a:t>
            </a:r>
          </a:p>
        </p:txBody>
      </p:sp>
    </p:spTree>
    <p:extLst>
      <p:ext uri="{BB962C8B-B14F-4D97-AF65-F5344CB8AC3E}">
        <p14:creationId xmlns:p14="http://schemas.microsoft.com/office/powerpoint/2010/main" val="34412712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3C8A2-8394-EBB5-D4C2-7E08BAD1E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First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A8C2F0-4C0D-EB92-E88F-EB5E919B0A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Asked questions about the PDF</a:t>
            </a:r>
          </a:p>
          <a:p>
            <a:pPr lvl="1"/>
            <a:r>
              <a:rPr lang="en-US" dirty="0"/>
              <a:t>What’s the ratio of medical schools accepting online biochemistry credit?</a:t>
            </a:r>
          </a:p>
          <a:p>
            <a:r>
              <a:rPr lang="en-US" dirty="0"/>
              <a:t>Looked for specific pages that could potentially interfere my web scrapping program</a:t>
            </a:r>
          </a:p>
          <a:p>
            <a:r>
              <a:rPr lang="en-US" dirty="0"/>
              <a:t>Took notes on interesting things within the table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7663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70BAC-F80F-A7A1-11E4-3B7494448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Various Findings/Notes within the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B8DBFF-201D-E10F-412B-6F0F90BD50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In the Additional Info section, a quarter refers to a 10-week “session” compared the semester where a session typically lasts for 15 weeks</a:t>
            </a:r>
          </a:p>
          <a:p>
            <a:r>
              <a:rPr lang="en-US" dirty="0"/>
              <a:t>BESS under the Class column stands for Behavioral and Social Sciences</a:t>
            </a:r>
          </a:p>
          <a:p>
            <a:r>
              <a:rPr lang="en-US" dirty="0"/>
              <a:t>Some medical schools uses AMCAS to determine which courses are eligible are not</a:t>
            </a:r>
          </a:p>
          <a:p>
            <a:r>
              <a:rPr lang="en-US" dirty="0"/>
              <a:t>Some medical schools accept online course credit, given if it was during the COVID-19 pandemic</a:t>
            </a:r>
          </a:p>
          <a:p>
            <a:r>
              <a:rPr lang="en-US" dirty="0"/>
              <a:t>Most schools require 1 academic year of physics, English, chemistry, and biology</a:t>
            </a:r>
          </a:p>
          <a:p>
            <a:r>
              <a:rPr lang="en-US" dirty="0"/>
              <a:t>There are also medical schools in Canada and Puerto Rico listed</a:t>
            </a:r>
          </a:p>
        </p:txBody>
      </p:sp>
    </p:spTree>
    <p:extLst>
      <p:ext uri="{BB962C8B-B14F-4D97-AF65-F5344CB8AC3E}">
        <p14:creationId xmlns:p14="http://schemas.microsoft.com/office/powerpoint/2010/main" val="1374597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60825-3903-7C9D-B341-87DA7F0D0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Parsing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7D5F44-9E3C-EFE5-15F4-7BE4E438F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600" y="1690688"/>
            <a:ext cx="6062330" cy="435133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Data originally stored in PDF with tables</a:t>
            </a:r>
          </a:p>
          <a:p>
            <a:r>
              <a:rPr lang="en-US" dirty="0"/>
              <a:t>Steps taken to parse:</a:t>
            </a:r>
          </a:p>
          <a:p>
            <a:pPr lvl="1"/>
            <a:r>
              <a:rPr lang="en-US" dirty="0"/>
              <a:t>Took all images within the tables using pdf plumber</a:t>
            </a:r>
          </a:p>
          <a:p>
            <a:pPr lvl="1"/>
            <a:r>
              <a:rPr lang="en-US" dirty="0"/>
              <a:t>Extracted the RGB value of each image and assigned it to a value (1, 0, or -1) depending on the RGB values</a:t>
            </a:r>
          </a:p>
          <a:p>
            <a:pPr lvl="1"/>
            <a:r>
              <a:rPr lang="en-US" dirty="0"/>
              <a:t>Used Camelot to extract the text from the table and organized into a pandas </a:t>
            </a:r>
            <a:r>
              <a:rPr lang="en-US" dirty="0" err="1"/>
              <a:t>DataFrame</a:t>
            </a:r>
            <a:r>
              <a:rPr lang="en-US" dirty="0"/>
              <a:t> for each page</a:t>
            </a:r>
          </a:p>
          <a:p>
            <a:pPr lvl="1"/>
            <a:r>
              <a:rPr lang="en-US" dirty="0"/>
              <a:t>Combined the RGB value data and the </a:t>
            </a:r>
            <a:r>
              <a:rPr lang="en-US" dirty="0" err="1"/>
              <a:t>DataFrame</a:t>
            </a:r>
            <a:r>
              <a:rPr lang="en-US" dirty="0"/>
              <a:t> table</a:t>
            </a:r>
          </a:p>
          <a:p>
            <a:pPr lvl="1"/>
            <a:r>
              <a:rPr lang="en-US" dirty="0"/>
              <a:t>Appended the </a:t>
            </a:r>
            <a:r>
              <a:rPr lang="en-US" dirty="0" err="1"/>
              <a:t>DataFrame</a:t>
            </a:r>
            <a:r>
              <a:rPr lang="en-US" dirty="0"/>
              <a:t> per page</a:t>
            </a:r>
          </a:p>
          <a:p>
            <a:pPr lvl="1"/>
            <a:endParaRPr lang="en-US" dirty="0"/>
          </a:p>
          <a:p>
            <a:r>
              <a:rPr lang="en-US" dirty="0"/>
              <a:t>Data outputted as a csv containing it’s raw data and a </a:t>
            </a:r>
            <a:r>
              <a:rPr lang="en-US" dirty="0" err="1"/>
              <a:t>xslx</a:t>
            </a:r>
            <a:r>
              <a:rPr lang="en-US" dirty="0"/>
              <a:t> with filtered data</a:t>
            </a:r>
          </a:p>
          <a:p>
            <a:r>
              <a:rPr lang="en-US" dirty="0"/>
              <a:t>Analysis was performed using pandas, </a:t>
            </a:r>
            <a:r>
              <a:rPr lang="en-US" dirty="0" err="1"/>
              <a:t>numpy</a:t>
            </a:r>
            <a:r>
              <a:rPr lang="en-US" dirty="0"/>
              <a:t>, pillow, Camelot, and </a:t>
            </a:r>
            <a:r>
              <a:rPr lang="en-US" dirty="0" err="1"/>
              <a:t>pdfplumber</a:t>
            </a:r>
            <a:endParaRPr lang="en-US" dirty="0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6DC6C14-AE52-8B50-7109-4EC87B163C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594" y="0"/>
            <a:ext cx="6091406" cy="3701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41042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27650-8765-1AEF-C2D4-351AA802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Analysis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19DF9F-5AC6-F921-C130-38AE8DD8A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308498" cy="4351338"/>
          </a:xfrm>
        </p:spPr>
        <p:txBody>
          <a:bodyPr/>
          <a:lstStyle/>
          <a:p>
            <a:r>
              <a:rPr lang="en-US" dirty="0"/>
              <a:t>Created code for the following statistics:</a:t>
            </a:r>
          </a:p>
          <a:p>
            <a:pPr lvl="1"/>
            <a:r>
              <a:rPr lang="en-US" dirty="0"/>
              <a:t>Mean</a:t>
            </a:r>
          </a:p>
          <a:p>
            <a:pPr lvl="1"/>
            <a:r>
              <a:rPr lang="en-US" dirty="0"/>
              <a:t>Comparison to states</a:t>
            </a:r>
          </a:p>
          <a:p>
            <a:pPr lvl="1"/>
            <a:r>
              <a:rPr lang="en-US" dirty="0"/>
              <a:t>Comparison across courses</a:t>
            </a:r>
          </a:p>
          <a:p>
            <a:pPr lvl="1"/>
            <a:r>
              <a:rPr lang="en-US" dirty="0"/>
              <a:t>Did a Kruskal-Wallis test</a:t>
            </a:r>
          </a:p>
        </p:txBody>
      </p:sp>
      <p:pic>
        <p:nvPicPr>
          <p:cNvPr id="6" name="Picture 5" descr="A computer screen with text and numbers&#10;&#10;AI-generated content may be incorrect.">
            <a:extLst>
              <a:ext uri="{FF2B5EF4-FFF2-40B4-BE49-F238E27FC236}">
                <a16:creationId xmlns:a16="http://schemas.microsoft.com/office/drawing/2014/main" id="{BC7B42A6-B41C-991E-ABB5-6F37D625B0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170" y="1650313"/>
            <a:ext cx="7871581" cy="4260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0018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47420-FA2F-EF2E-64D9-077CE83D2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statistics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2EB0E-E86C-E1B6-89C4-FC457FF412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Schools w/ online BCHM:</a:t>
            </a:r>
          </a:p>
          <a:p>
            <a:pPr lvl="1"/>
            <a:r>
              <a:rPr lang="en-US" dirty="0"/>
              <a:t>Schools that allow online BCHM: 76 (59.4%)</a:t>
            </a:r>
          </a:p>
          <a:p>
            <a:pPr lvl="1"/>
            <a:r>
              <a:rPr lang="en-US" dirty="0"/>
              <a:t>Schools that do not allow online BCHM: 24 (18.4%)</a:t>
            </a:r>
          </a:p>
          <a:p>
            <a:pPr lvl="1"/>
            <a:r>
              <a:rPr lang="en-US" dirty="0"/>
              <a:t>Case-by-Case: 28 (21.9%)</a:t>
            </a:r>
          </a:p>
          <a:p>
            <a:r>
              <a:rPr lang="en-US" dirty="0"/>
              <a:t>Schools w/ CC BCHM:</a:t>
            </a:r>
          </a:p>
          <a:p>
            <a:pPr lvl="1"/>
            <a:r>
              <a:rPr lang="en-US" dirty="0"/>
              <a:t>Schools that allow BCHM from CC: 101 (78.9%)</a:t>
            </a:r>
          </a:p>
          <a:p>
            <a:pPr lvl="1"/>
            <a:r>
              <a:rPr lang="en-US" dirty="0"/>
              <a:t>Schools that do not allow BCHM from CC: 16 (12.5%)</a:t>
            </a:r>
          </a:p>
          <a:p>
            <a:pPr lvl="1"/>
            <a:r>
              <a:rPr lang="en-US" dirty="0"/>
              <a:t>Case-by-Case: 11 (8.6%)</a:t>
            </a:r>
          </a:p>
        </p:txBody>
      </p:sp>
    </p:spTree>
    <p:extLst>
      <p:ext uri="{BB962C8B-B14F-4D97-AF65-F5344CB8AC3E}">
        <p14:creationId xmlns:p14="http://schemas.microsoft.com/office/powerpoint/2010/main" val="10421742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E47C5-744A-CE22-468E-01B2E15FB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CF575-3333-776D-5049-233BCAD12C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Schools w/ online BESS:</a:t>
            </a:r>
          </a:p>
          <a:p>
            <a:pPr lvl="1"/>
            <a:r>
              <a:rPr lang="en-US" dirty="0"/>
              <a:t>Schools that allow online BESS: 10 (52.6%)</a:t>
            </a:r>
          </a:p>
          <a:p>
            <a:pPr lvl="1"/>
            <a:r>
              <a:rPr lang="en-US" dirty="0"/>
              <a:t>Schools that do not allow online BESS: 2 (10.5%)</a:t>
            </a:r>
          </a:p>
          <a:p>
            <a:pPr lvl="1"/>
            <a:r>
              <a:rPr lang="en-US" dirty="0"/>
              <a:t>Case-by-Case: 7 (36.8%)</a:t>
            </a:r>
          </a:p>
          <a:p>
            <a:r>
              <a:rPr lang="en-US" dirty="0"/>
              <a:t>Schools w/ online BIOL:</a:t>
            </a:r>
          </a:p>
          <a:p>
            <a:pPr lvl="1"/>
            <a:r>
              <a:rPr lang="en-US" dirty="0"/>
              <a:t>Schools that allow online BIOL: 200 (59.0%)</a:t>
            </a:r>
          </a:p>
          <a:p>
            <a:pPr lvl="1"/>
            <a:r>
              <a:rPr lang="en-US" dirty="0"/>
              <a:t>Schools that do not allow online BIOL: 47 (13.9%)</a:t>
            </a:r>
          </a:p>
          <a:p>
            <a:pPr lvl="1"/>
            <a:r>
              <a:rPr lang="en-US" dirty="0"/>
              <a:t>Case-by-Case: 92 (27.1%)</a:t>
            </a:r>
          </a:p>
          <a:p>
            <a:r>
              <a:rPr lang="en-US" dirty="0"/>
              <a:t>A Kruskal-Wallis test found no significant relationship between course type and medical-school acceptance ratios (p = 0.41).</a:t>
            </a:r>
          </a:p>
        </p:txBody>
      </p:sp>
    </p:spTree>
    <p:extLst>
      <p:ext uri="{BB962C8B-B14F-4D97-AF65-F5344CB8AC3E}">
        <p14:creationId xmlns:p14="http://schemas.microsoft.com/office/powerpoint/2010/main" val="2376397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united states&#10;&#10;AI-generated content may be incorrect.">
            <a:extLst>
              <a:ext uri="{FF2B5EF4-FFF2-40B4-BE49-F238E27FC236}">
                <a16:creationId xmlns:a16="http://schemas.microsoft.com/office/drawing/2014/main" id="{B088A653-6B86-8C1B-A9FB-2F14A3CE9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0682" y="965200"/>
            <a:ext cx="7150635" cy="4290381"/>
          </a:xfrm>
          <a:prstGeom prst="rect">
            <a:avLst/>
          </a:prstGeom>
          <a:ln w="190500">
            <a:solidFill>
              <a:srgbClr val="FFFFFF"/>
            </a:solidFill>
          </a:ln>
          <a:effectLst>
            <a:reflection blurRad="38100" stA="52000" endA="300" endPos="30000" dir="5400000" sy="-100000" algn="bl" rotWithShape="0"/>
            <a:softEdge rad="19050"/>
          </a:effectLst>
        </p:spPr>
      </p:pic>
    </p:spTree>
    <p:extLst>
      <p:ext uri="{BB962C8B-B14F-4D97-AF65-F5344CB8AC3E}">
        <p14:creationId xmlns:p14="http://schemas.microsoft.com/office/powerpoint/2010/main" val="30071409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96F4A75A-AE6E-48E5-8C9B-62D0A953E3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77678" y="2627791"/>
            <a:ext cx="6235148" cy="3592034"/>
          </a:xfrm>
          <a:prstGeom prst="rect">
            <a:avLst/>
          </a:prstGeom>
        </p:spPr>
        <p:txBody>
          <a:bodyPr vert="horz" wrap="none" lIns="91440" tIns="45720" rIns="91440" bIns="45720" rtlCol="0" anchor="t">
            <a:norm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9600" b="0" kern="120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endParaRPr lang="en-US" dirty="0">
              <a:effectLst>
                <a:outerShdw blurRad="469900" dist="342900" dir="5400000" sy="-20000" rotWithShape="0">
                  <a:schemeClr val="bg1"/>
                </a:outerShdw>
              </a:effectLst>
            </a:endParaRPr>
          </a:p>
        </p:txBody>
      </p:sp>
      <p:sp>
        <p:nvSpPr>
          <p:cNvPr id="9" name="Rounded Rectangle 18">
            <a:extLst>
              <a:ext uri="{FF2B5EF4-FFF2-40B4-BE49-F238E27FC236}">
                <a16:creationId xmlns:a16="http://schemas.microsoft.com/office/drawing/2014/main" id="{5FE0DFF3-0858-4641-9E40-6BE7ACCC4F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7" y="643467"/>
            <a:ext cx="10905070" cy="5126188"/>
          </a:xfrm>
          <a:prstGeom prst="roundRect">
            <a:avLst>
              <a:gd name="adj" fmla="val 2028"/>
            </a:avLst>
          </a:prstGeom>
          <a:solidFill>
            <a:schemeClr val="tx1"/>
          </a:solidFill>
          <a:ln>
            <a:solidFill>
              <a:schemeClr val="accent1">
                <a:shade val="50000"/>
              </a:schemeClr>
            </a:solidFill>
          </a:ln>
          <a:effectLst>
            <a:innerShdw blurRad="127000" dist="12700">
              <a:prstClr val="black"/>
            </a:innerShdw>
            <a:reflection blurRad="6350" stA="52000" endA="300" endPos="200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 descr="A map of the united states&#10;&#10;AI-generated content may be incorrect.">
            <a:extLst>
              <a:ext uri="{FF2B5EF4-FFF2-40B4-BE49-F238E27FC236}">
                <a16:creationId xmlns:a16="http://schemas.microsoft.com/office/drawing/2014/main" id="{E7F9472D-BBF7-AEC9-CB77-3F3E0F7A46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7085" y="957390"/>
            <a:ext cx="7785283" cy="4496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43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896D9D3-0656-3758-36F2-3855671E76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6421" y="152797"/>
            <a:ext cx="6089179" cy="6552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90907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D0EA6-E7C7-0A1F-1078-0E13B44D2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Outputs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DD5EA6-3F36-36EE-E064-A055650820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Did more specific categorization based on the class column</a:t>
            </a:r>
          </a:p>
          <a:p>
            <a:pPr lvl="1"/>
            <a:endParaRPr lang="en-US" dirty="0"/>
          </a:p>
          <a:p>
            <a:r>
              <a:rPr lang="en-US" dirty="0"/>
              <a:t>Data stored as</a:t>
            </a:r>
          </a:p>
          <a:p>
            <a:pPr lvl="1"/>
            <a:r>
              <a:rPr lang="en-US" dirty="0"/>
              <a:t>Excel file(s)</a:t>
            </a:r>
          </a:p>
          <a:p>
            <a:pPr lvl="2"/>
            <a:r>
              <a:rPr lang="en-US" dirty="0"/>
              <a:t>data_table.xlsx – has the raw data + some extra filtered tables</a:t>
            </a:r>
          </a:p>
          <a:p>
            <a:pPr lvl="2"/>
            <a:r>
              <a:rPr lang="en-US" dirty="0"/>
              <a:t>unique_courses.xlsx – counts of each unique course</a:t>
            </a:r>
          </a:p>
          <a:p>
            <a:pPr lvl="1"/>
            <a:r>
              <a:rPr lang="en-US" dirty="0"/>
              <a:t>CSV files</a:t>
            </a:r>
          </a:p>
          <a:p>
            <a:pPr lvl="2"/>
            <a:r>
              <a:rPr lang="en-US" dirty="0"/>
              <a:t>MSAR_table.csv – raw data</a:t>
            </a:r>
          </a:p>
          <a:p>
            <a:pPr lvl="2"/>
            <a:r>
              <a:rPr lang="en-US" dirty="0"/>
              <a:t>edited_MSAR_table.csv – raw data w/ edited class columns to be more specific</a:t>
            </a:r>
          </a:p>
        </p:txBody>
      </p:sp>
    </p:spTree>
    <p:extLst>
      <p:ext uri="{BB962C8B-B14F-4D97-AF65-F5344CB8AC3E}">
        <p14:creationId xmlns:p14="http://schemas.microsoft.com/office/powerpoint/2010/main" val="9356986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2628C-4BBF-0022-6B38-37D5A6B3E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Future Directions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50213-EEE2-7F32-2408-8987A6541B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look at the Required or Recommended Column</a:t>
            </a:r>
          </a:p>
          <a:p>
            <a:r>
              <a:rPr lang="en-US" dirty="0"/>
              <a:t>We can join a data set containing the median MCAT score accepted</a:t>
            </a:r>
          </a:p>
          <a:p>
            <a:r>
              <a:rPr lang="en-US" dirty="0"/>
              <a:t>Do medical schools who accept AP credit for a class also accept AP credit for another class?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7600751"/>
      </p:ext>
    </p:extLst>
  </p:cSld>
  <p:clrMapOvr>
    <a:masterClrMapping/>
  </p:clrMapOvr>
</p:sld>
</file>

<file path=ppt/theme/theme1.xml><?xml version="1.0" encoding="utf-8"?>
<a:theme xmlns:a="http://schemas.openxmlformats.org/drawingml/2006/main" name="Depth">
  <a:themeElements>
    <a:clrScheme name="Depth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FBCA98"/>
      </a:hlink>
      <a:folHlink>
        <a:srgbClr val="D3B86D"/>
      </a:folHlink>
    </a:clrScheme>
    <a:fontScheme name="Depth">
      <a:maj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pth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pth" id="{7BEAFC2A-325C-49C4-AC08-2B765DA903F9}" vid="{1735E755-43E6-43AA-ABA2-C989ECC79A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4BFAFF644FAF4FA04600AC54340588" ma:contentTypeVersion="6" ma:contentTypeDescription="Create a new document." ma:contentTypeScope="" ma:versionID="e2ad9896c38ba8f2e8fbffed61ca1e05">
  <xsd:schema xmlns:xsd="http://www.w3.org/2001/XMLSchema" xmlns:xs="http://www.w3.org/2001/XMLSchema" xmlns:p="http://schemas.microsoft.com/office/2006/metadata/properties" xmlns:ns3="7f441578-6221-4376-8ce6-60a772b8ffab" targetNamespace="http://schemas.microsoft.com/office/2006/metadata/properties" ma:root="true" ma:fieldsID="8d797c5d037715e70c615c48b602449b" ns3:_="">
    <xsd:import namespace="7f441578-6221-4376-8ce6-60a772b8ffab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f441578-6221-4376-8ce6-60a772b8ffab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7f441578-6221-4376-8ce6-60a772b8ffab" xsi:nil="true"/>
  </documentManagement>
</p:properties>
</file>

<file path=customXml/itemProps1.xml><?xml version="1.0" encoding="utf-8"?>
<ds:datastoreItem xmlns:ds="http://schemas.openxmlformats.org/officeDocument/2006/customXml" ds:itemID="{F4810B37-0855-4450-9C32-C6BC2A86203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058B0FA-4823-4910-85CD-C6660BE53DD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f441578-6221-4376-8ce6-60a772b8ffa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D363BA3-762C-463F-93F3-01CBC8DE6D1D}">
  <ds:schemaRefs>
    <ds:schemaRef ds:uri="7f441578-6221-4376-8ce6-60a772b8ffab"/>
    <ds:schemaRef ds:uri="http://purl.org/dc/elements/1.1/"/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purl.org/dc/terms/"/>
    <ds:schemaRef ds:uri="http://www.w3.org/XML/1998/namespace"/>
    <ds:schemaRef ds:uri="http://schemas.microsoft.com/office/infopath/2007/PartnerControl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TM04033923[[fn=Depth]]</Template>
  <TotalTime>2063</TotalTime>
  <Words>552</Words>
  <Application>Microsoft Office PowerPoint</Application>
  <PresentationFormat>Widescreen</PresentationFormat>
  <Paragraphs>65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Arial</vt:lpstr>
      <vt:lpstr>Corbel</vt:lpstr>
      <vt:lpstr>Depth</vt:lpstr>
      <vt:lpstr>MSAR Findings</vt:lpstr>
      <vt:lpstr>First Steps</vt:lpstr>
      <vt:lpstr>Various Findings/Notes within the table</vt:lpstr>
      <vt:lpstr>Data Parsing</vt:lpstr>
      <vt:lpstr>Data Analysis </vt:lpstr>
      <vt:lpstr>Basic statistics </vt:lpstr>
      <vt:lpstr>Other classes</vt:lpstr>
      <vt:lpstr>PowerPoint Presentation</vt:lpstr>
      <vt:lpstr>PowerPoint Presentation</vt:lpstr>
      <vt:lpstr>PowerPoint Presentation</vt:lpstr>
      <vt:lpstr>Data Outputs </vt:lpstr>
      <vt:lpstr>Data Future Directions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Phung, George</dc:creator>
  <cp:lastModifiedBy>Phung, George</cp:lastModifiedBy>
  <cp:revision>15</cp:revision>
  <dcterms:created xsi:type="dcterms:W3CDTF">2025-11-11T18:19:29Z</dcterms:created>
  <dcterms:modified xsi:type="dcterms:W3CDTF">2025-12-09T00:03:13Z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0x010100844BFAFF644FAF4FA04600AC54340588</vt:lpwstr>
  </property>
</Properties>
</file>