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6" r:id="rId5"/>
    <p:sldId id="268" r:id="rId6"/>
    <p:sldId id="264" r:id="rId7"/>
    <p:sldId id="270" r:id="rId8"/>
    <p:sldId id="271" r:id="rId9"/>
    <p:sldId id="259" r:id="rId10"/>
    <p:sldId id="265" r:id="rId11"/>
    <p:sldId id="260" r:id="rId12"/>
    <p:sldId id="263" r:id="rId13"/>
    <p:sldId id="273" r:id="rId14"/>
    <p:sldId id="261" r:id="rId15"/>
    <p:sldId id="274" r:id="rId16"/>
    <p:sldId id="272" r:id="rId17"/>
    <p:sldId id="275" r:id="rId18"/>
    <p:sldId id="266" r:id="rId19"/>
    <p:sldId id="267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2" autoAdjust="0"/>
    <p:restoredTop sz="94658"/>
  </p:normalViewPr>
  <p:slideViewPr>
    <p:cSldViewPr snapToGrid="0">
      <p:cViewPr varScale="1">
        <p:scale>
          <a:sx n="79" d="100"/>
          <a:sy n="79" d="100"/>
        </p:scale>
        <p:origin x="437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A25F1-9CB4-574D-9A10-2031563C47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CD82-A17D-DA42-BDBA-66B24A274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0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2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96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8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7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3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92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03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4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03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7262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67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0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7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6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2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398FABF-7BBB-4FC4-B3E3-346BCB227DD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13AC1D0-1CA9-43A5-9D0A-47AC69F14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86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6274-BBC9-8900-3263-CFEA1174D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MSAR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F6697-2460-47BB-83AD-C9EA6BAFA5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George Phung</a:t>
            </a:r>
          </a:p>
        </p:txBody>
      </p:sp>
    </p:spTree>
    <p:extLst>
      <p:ext uri="{BB962C8B-B14F-4D97-AF65-F5344CB8AC3E}">
        <p14:creationId xmlns:p14="http://schemas.microsoft.com/office/powerpoint/2010/main" val="344127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C8A2-8394-EBB5-D4C2-7E08BAD1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C2F0-4C0D-EB92-E88F-EB5E919B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scrapped the Medical School Admission Requirements Report for Applicants and Advisors’ PDF file to extract the dataset and answer questions regarding online biochemistry.</a:t>
            </a:r>
          </a:p>
          <a:p>
            <a:r>
              <a:rPr lang="en-US" dirty="0"/>
              <a:t>I asked various questions about the PDF</a:t>
            </a:r>
          </a:p>
          <a:p>
            <a:r>
              <a:rPr lang="en-US" dirty="0"/>
              <a:t>I took notes on interesting things within the table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6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0825-3903-7C9D-B341-87DA7F0D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5F44-9E3C-EFE5-15F4-7BE4E438F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600" y="1690688"/>
            <a:ext cx="606233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data was originally stored in PDF with tables</a:t>
            </a:r>
          </a:p>
          <a:p>
            <a:r>
              <a:rPr lang="en-US" dirty="0"/>
              <a:t>Steps taken to parse:</a:t>
            </a:r>
          </a:p>
          <a:p>
            <a:pPr lvl="1"/>
            <a:r>
              <a:rPr lang="en-US" dirty="0"/>
              <a:t>Took all images within the tables using </a:t>
            </a:r>
            <a:r>
              <a:rPr lang="en-US" dirty="0" err="1"/>
              <a:t>pdfplumber</a:t>
            </a:r>
            <a:endParaRPr lang="en-US" dirty="0"/>
          </a:p>
          <a:p>
            <a:pPr lvl="1"/>
            <a:r>
              <a:rPr lang="en-US" dirty="0"/>
              <a:t>Extracted the RGB value of each image and assigned it to a value depending on the RGB values</a:t>
            </a:r>
          </a:p>
          <a:p>
            <a:pPr lvl="1"/>
            <a:r>
              <a:rPr lang="en-US" dirty="0"/>
              <a:t>Used Camelot to extract the text from the table </a:t>
            </a:r>
          </a:p>
          <a:p>
            <a:r>
              <a:rPr lang="en-US" dirty="0"/>
              <a:t>A key challenge was that some pages did not have a header above</a:t>
            </a:r>
          </a:p>
          <a:p>
            <a:r>
              <a:rPr lang="en-US" dirty="0"/>
              <a:t>Data outputted as a .csv containing its raw data and a .</a:t>
            </a:r>
            <a:r>
              <a:rPr lang="en-US" dirty="0" err="1"/>
              <a:t>xslx</a:t>
            </a:r>
            <a:r>
              <a:rPr lang="en-US" dirty="0"/>
              <a:t> with filtered data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FBFDB64-695D-285D-E55D-BDED24CD1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6" y="1361722"/>
            <a:ext cx="5610784" cy="358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04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9DE0-DCDB-909D-E9D3-EFAA9025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look at the raw data extracted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993E5-9BE5-FC6D-0523-56DC0EF17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980" y="1559530"/>
            <a:ext cx="342781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Column names:</a:t>
            </a:r>
          </a:p>
          <a:p>
            <a:pPr lvl="1"/>
            <a:r>
              <a:rPr lang="en-US" dirty="0"/>
              <a:t>Course</a:t>
            </a:r>
          </a:p>
          <a:p>
            <a:pPr lvl="1"/>
            <a:r>
              <a:rPr lang="en-US" dirty="0"/>
              <a:t>Class</a:t>
            </a:r>
          </a:p>
          <a:p>
            <a:pPr lvl="1"/>
            <a:r>
              <a:rPr lang="en-US" dirty="0"/>
              <a:t>Required or Recommended?</a:t>
            </a:r>
          </a:p>
          <a:p>
            <a:pPr lvl="1"/>
            <a:r>
              <a:rPr lang="en-US" dirty="0"/>
              <a:t>Additional Info</a:t>
            </a:r>
          </a:p>
          <a:p>
            <a:pPr lvl="1"/>
            <a:r>
              <a:rPr lang="en-US" dirty="0"/>
              <a:t>Credit H0urs</a:t>
            </a:r>
          </a:p>
          <a:p>
            <a:pPr lvl="1"/>
            <a:r>
              <a:rPr lang="en-US" dirty="0"/>
              <a:t>Lab?</a:t>
            </a:r>
          </a:p>
          <a:p>
            <a:pPr lvl="1"/>
            <a:r>
              <a:rPr lang="en-US" dirty="0"/>
              <a:t>Pass/Fail</a:t>
            </a:r>
          </a:p>
          <a:p>
            <a:pPr lvl="1"/>
            <a:r>
              <a:rPr lang="en-US" dirty="0"/>
              <a:t>AP Credit</a:t>
            </a:r>
          </a:p>
          <a:p>
            <a:pPr lvl="1"/>
            <a:r>
              <a:rPr lang="en-US" dirty="0"/>
              <a:t>Online Course</a:t>
            </a:r>
          </a:p>
          <a:p>
            <a:pPr lvl="1"/>
            <a:r>
              <a:rPr lang="en-US" dirty="0"/>
              <a:t>Community College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2DCA7A-F5D7-3FB8-0EDB-EA3CB7CD9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942" y="1486637"/>
            <a:ext cx="6961105" cy="4229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77A3B4-DB8C-C8BA-84C5-4F6CCECCDAEC}"/>
              </a:ext>
            </a:extLst>
          </p:cNvPr>
          <p:cNvSpPr txBox="1"/>
          <p:nvPr/>
        </p:nvSpPr>
        <p:spPr>
          <a:xfrm>
            <a:off x="5534781" y="5970210"/>
            <a:ext cx="6657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dataset contains 1170 rows and 12 columns</a:t>
            </a:r>
          </a:p>
        </p:txBody>
      </p:sp>
    </p:spTree>
    <p:extLst>
      <p:ext uri="{BB962C8B-B14F-4D97-AF65-F5344CB8AC3E}">
        <p14:creationId xmlns:p14="http://schemas.microsoft.com/office/powerpoint/2010/main" val="2567049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1BA9-6401-3BB9-70B1-8D08007C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381F5E-2FC8-B449-861E-D87F2AC6B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238" y="1878320"/>
            <a:ext cx="6591056" cy="2492633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3F013F-37DD-9D14-F739-A585B17BA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503" y="4911293"/>
            <a:ext cx="9672018" cy="18257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9433CCE-BDA7-008C-67BF-8CE05A391AB0}"/>
              </a:ext>
            </a:extLst>
          </p:cNvPr>
          <p:cNvSpPr txBox="1"/>
          <p:nvPr/>
        </p:nvSpPr>
        <p:spPr>
          <a:xfrm>
            <a:off x="157238" y="2247295"/>
            <a:ext cx="431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cleaning: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cleaning: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66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0BAC-F80F-A7A1-11E4-3B749444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Pre-Data Analysis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DBFF-201D-E10F-412B-6F0F90BD5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the Additional Info section, a quarter refers to a 10-week academic “session” compared the semester where a session typically lasts for 15 weeks</a:t>
            </a:r>
          </a:p>
          <a:p>
            <a:r>
              <a:rPr lang="en-US" dirty="0"/>
              <a:t>“BESS” under the Class column denotes Behavioral and Social Sciences coursework</a:t>
            </a:r>
          </a:p>
          <a:p>
            <a:r>
              <a:rPr lang="en-US" dirty="0"/>
              <a:t>Some medical schools uses AMCAS guidelines to determine which courses are eligible are not</a:t>
            </a:r>
          </a:p>
          <a:p>
            <a:r>
              <a:rPr lang="en-US" dirty="0"/>
              <a:t>Some medical schools accept online course credit, given if it was during the COVID-19 pandemic</a:t>
            </a:r>
          </a:p>
          <a:p>
            <a:r>
              <a:rPr lang="en-US" dirty="0"/>
              <a:t>Most schools require 1 academic year of physics, English, chemistry, and biology</a:t>
            </a:r>
          </a:p>
          <a:p>
            <a:r>
              <a:rPr lang="en-US" dirty="0"/>
              <a:t>This dataset also includes medical schools that are in Canada and Puerto Rico</a:t>
            </a:r>
          </a:p>
        </p:txBody>
      </p:sp>
    </p:spTree>
    <p:extLst>
      <p:ext uri="{BB962C8B-B14F-4D97-AF65-F5344CB8AC3E}">
        <p14:creationId xmlns:p14="http://schemas.microsoft.com/office/powerpoint/2010/main" val="137459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27650-8765-1AEF-C2D4-351AA802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9DF9F-5AC6-F921-C130-38AE8DD8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08498" cy="4351338"/>
          </a:xfrm>
        </p:spPr>
        <p:txBody>
          <a:bodyPr/>
          <a:lstStyle/>
          <a:p>
            <a:r>
              <a:rPr lang="en-US" dirty="0"/>
              <a:t>I created code for the following statistics: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/>
              <a:t>Comparison to states</a:t>
            </a:r>
          </a:p>
          <a:p>
            <a:pPr lvl="1"/>
            <a:r>
              <a:rPr lang="en-US" dirty="0"/>
              <a:t>Comparison across courses</a:t>
            </a:r>
          </a:p>
          <a:p>
            <a:pPr lvl="1"/>
            <a:r>
              <a:rPr lang="en-US" dirty="0"/>
              <a:t>Did a Kruskal-Wallis test on the courses</a:t>
            </a:r>
          </a:p>
        </p:txBody>
      </p:sp>
      <p:pic>
        <p:nvPicPr>
          <p:cNvPr id="6" name="Picture 5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BC7B42A6-B41C-991E-ABB5-6F37D625B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170" y="1650313"/>
            <a:ext cx="7871581" cy="426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1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7420-FA2F-EF2E-64D9-077CE83D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statistics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2EB0E-E86C-E1B6-89C4-FC457FF41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Schools with online BCHM:</a:t>
            </a:r>
          </a:p>
          <a:p>
            <a:pPr lvl="1"/>
            <a:r>
              <a:rPr lang="en-US" dirty="0"/>
              <a:t>Schools that allow online BCHM: 76 (59.4%)</a:t>
            </a:r>
          </a:p>
          <a:p>
            <a:pPr lvl="1"/>
            <a:r>
              <a:rPr lang="en-US" dirty="0"/>
              <a:t>Schools that do not allow online BCHM: 24 (18.4%)</a:t>
            </a:r>
          </a:p>
          <a:p>
            <a:pPr lvl="1"/>
            <a:r>
              <a:rPr lang="en-US" dirty="0"/>
              <a:t>Case-by-Case: 28 (21.9%)</a:t>
            </a:r>
          </a:p>
          <a:p>
            <a:r>
              <a:rPr lang="en-US" dirty="0"/>
              <a:t>Schools with CC BCHM:</a:t>
            </a:r>
          </a:p>
          <a:p>
            <a:pPr lvl="1"/>
            <a:r>
              <a:rPr lang="en-US" dirty="0"/>
              <a:t>Schools that allow BCHM from CC: 101 (78.9%)</a:t>
            </a:r>
          </a:p>
          <a:p>
            <a:pPr lvl="1"/>
            <a:r>
              <a:rPr lang="en-US" dirty="0"/>
              <a:t>Schools that do not allow BCHM from CC: 16 (12.5%)</a:t>
            </a:r>
          </a:p>
          <a:p>
            <a:pPr lvl="1"/>
            <a:r>
              <a:rPr lang="en-US" dirty="0"/>
              <a:t>Case-by-Case: 11 (8.6%)</a:t>
            </a:r>
          </a:p>
        </p:txBody>
      </p:sp>
    </p:spTree>
    <p:extLst>
      <p:ext uri="{BB962C8B-B14F-4D97-AF65-F5344CB8AC3E}">
        <p14:creationId xmlns:p14="http://schemas.microsoft.com/office/powerpoint/2010/main" val="1042174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47C5-744A-CE22-468E-01B2E15F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CF575-3333-776D-5049-233BCAD12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Schools with online BESS:</a:t>
            </a:r>
          </a:p>
          <a:p>
            <a:pPr lvl="1"/>
            <a:r>
              <a:rPr lang="en-US" dirty="0"/>
              <a:t>Schools that allow online BESS: 10 (52.6%)</a:t>
            </a:r>
          </a:p>
          <a:p>
            <a:pPr lvl="1"/>
            <a:r>
              <a:rPr lang="en-US" dirty="0"/>
              <a:t>Schools that do not allow online BESS: 2 (10.5%)</a:t>
            </a:r>
          </a:p>
          <a:p>
            <a:pPr lvl="1"/>
            <a:r>
              <a:rPr lang="en-US" dirty="0"/>
              <a:t>Case-by-Case: 7 (36.8%)</a:t>
            </a:r>
          </a:p>
          <a:p>
            <a:r>
              <a:rPr lang="en-US" dirty="0"/>
              <a:t>Schools with online BIOL:</a:t>
            </a:r>
          </a:p>
          <a:p>
            <a:pPr lvl="1"/>
            <a:r>
              <a:rPr lang="en-US" dirty="0"/>
              <a:t>Schools that allow online BIOL: 200 (59.0%)</a:t>
            </a:r>
          </a:p>
          <a:p>
            <a:pPr lvl="1"/>
            <a:r>
              <a:rPr lang="en-US" dirty="0"/>
              <a:t>Schools that do not allow online BIOL: 47 (13.9%)</a:t>
            </a:r>
          </a:p>
          <a:p>
            <a:pPr lvl="1"/>
            <a:r>
              <a:rPr lang="en-US" dirty="0"/>
              <a:t>Case-by-Case: 92 (27.1%)</a:t>
            </a:r>
          </a:p>
          <a:p>
            <a:r>
              <a:rPr lang="en-US" dirty="0"/>
              <a:t>A Kruskal-Wallis test found no significant relationship between course type and medical-school acceptance ratios (p = 0.41)</a:t>
            </a:r>
          </a:p>
        </p:txBody>
      </p:sp>
    </p:spTree>
    <p:extLst>
      <p:ext uri="{BB962C8B-B14F-4D97-AF65-F5344CB8AC3E}">
        <p14:creationId xmlns:p14="http://schemas.microsoft.com/office/powerpoint/2010/main" val="237639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FF203B-1EA8-FB32-F7E2-A7F60FD872D6}"/>
              </a:ext>
            </a:extLst>
          </p:cNvPr>
          <p:cNvSpPr txBox="1"/>
          <p:nvPr/>
        </p:nvSpPr>
        <p:spPr>
          <a:xfrm>
            <a:off x="1896533" y="338666"/>
            <a:ext cx="8176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Visualizations </a:t>
            </a:r>
          </a:p>
        </p:txBody>
      </p:sp>
      <p:pic>
        <p:nvPicPr>
          <p:cNvPr id="10" name="Picture 9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585DDA7-2D35-F6E6-F7A8-0DC25657C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834" y="1252191"/>
            <a:ext cx="8176381" cy="481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15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united states of america&#10;&#10;AI-generated content may be incorrect.">
            <a:extLst>
              <a:ext uri="{FF2B5EF4-FFF2-40B4-BE49-F238E27FC236}">
                <a16:creationId xmlns:a16="http://schemas.microsoft.com/office/drawing/2014/main" id="{001E51D7-A3F9-5937-38A1-3E9BE509A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146" y="1103544"/>
            <a:ext cx="7533708" cy="465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40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A8C4FEF8-64D0-3D3C-F9BE-700CB4B8E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360" y="943649"/>
            <a:ext cx="8115431" cy="4970702"/>
          </a:xfrm>
          <a:prstGeom prst="rect">
            <a:avLst/>
          </a:prstGeom>
          <a:ln w="190500" cap="flat" cmpd="thinThick">
            <a:solidFill>
              <a:srgbClr val="FFFFFF"/>
            </a:solidFill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3440342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F799E-A007-6F57-FEF4-B3E0A6CC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and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0840F-93D1-708E-ABC6-12202785A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see that for online biochemistry credit, the ratio is lower in the East coast</a:t>
            </a:r>
          </a:p>
          <a:p>
            <a:r>
              <a:rPr lang="en-US" dirty="0"/>
              <a:t>There are many states in the Midwest that do not have any medical schools that accept both online and community college biochemistry credit</a:t>
            </a:r>
          </a:p>
          <a:p>
            <a:r>
              <a:rPr lang="en-US" dirty="0"/>
              <a:t>The general ratios of CC biochemistry credit is generally higher than online course biochemistry credit</a:t>
            </a:r>
          </a:p>
        </p:txBody>
      </p:sp>
    </p:spTree>
    <p:extLst>
      <p:ext uri="{BB962C8B-B14F-4D97-AF65-F5344CB8AC3E}">
        <p14:creationId xmlns:p14="http://schemas.microsoft.com/office/powerpoint/2010/main" val="642748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690A-4E03-DE14-74E2-4EE8F8DE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36301-BDDE-0130-1D01-6DE6B90DF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Community College credit is generally more accepted for college credit compared to online credit</a:t>
            </a:r>
          </a:p>
          <a:p>
            <a:r>
              <a:rPr lang="en-US" dirty="0"/>
              <a:t>There exists a regional difference, students living in the Midwest does not have as many opportunities compared to students living in the East coast</a:t>
            </a:r>
          </a:p>
        </p:txBody>
      </p:sp>
    </p:spTree>
    <p:extLst>
      <p:ext uri="{BB962C8B-B14F-4D97-AF65-F5344CB8AC3E}">
        <p14:creationId xmlns:p14="http://schemas.microsoft.com/office/powerpoint/2010/main" val="3038813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0EA6-E7C7-0A1F-1078-0E13B44D2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Outputs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D5EA6-3F36-36EE-E064-A05565082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stored as</a:t>
            </a:r>
          </a:p>
          <a:p>
            <a:pPr lvl="1"/>
            <a:r>
              <a:rPr lang="en-US" dirty="0"/>
              <a:t>Excel file(s)</a:t>
            </a:r>
          </a:p>
          <a:p>
            <a:pPr lvl="2"/>
            <a:r>
              <a:rPr lang="en-US" dirty="0"/>
              <a:t>data_table.xlsx – has the raw data + some extra filtered tables</a:t>
            </a:r>
          </a:p>
          <a:p>
            <a:pPr lvl="2"/>
            <a:r>
              <a:rPr lang="en-US" dirty="0"/>
              <a:t>unique_courses.xlsx – counts of each unique course</a:t>
            </a:r>
          </a:p>
          <a:p>
            <a:pPr lvl="1"/>
            <a:r>
              <a:rPr lang="en-US" dirty="0"/>
              <a:t>CSV files</a:t>
            </a:r>
          </a:p>
          <a:p>
            <a:pPr lvl="2"/>
            <a:r>
              <a:rPr lang="en-US" dirty="0"/>
              <a:t>MSAR_table.csv – raw data</a:t>
            </a:r>
          </a:p>
          <a:p>
            <a:pPr lvl="2"/>
            <a:r>
              <a:rPr lang="en-US" dirty="0"/>
              <a:t>edited_MSAR_table.csv – raw data w/ edited class columns to be more specific</a:t>
            </a:r>
          </a:p>
        </p:txBody>
      </p:sp>
    </p:spTree>
    <p:extLst>
      <p:ext uri="{BB962C8B-B14F-4D97-AF65-F5344CB8AC3E}">
        <p14:creationId xmlns:p14="http://schemas.microsoft.com/office/powerpoint/2010/main" val="935698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628C-4BBF-0022-6B38-37D5A6B3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</a:t>
            </a:r>
            <a:r>
              <a:rPr lang="en-US" dirty="0"/>
              <a:t>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50213-EEE2-7F32-2408-8987A6541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look at the Required or Recommended Column</a:t>
            </a:r>
          </a:p>
          <a:p>
            <a:r>
              <a:rPr lang="en-US" dirty="0"/>
              <a:t>We can join a data set containing the median MCAT score accepted</a:t>
            </a:r>
          </a:p>
          <a:p>
            <a:r>
              <a:rPr lang="en-US" dirty="0"/>
              <a:t>Do medical schools who accept AP credit for a class also accept AP credit for another class?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00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849F-805A-CD0E-77D2-C28D9D91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616" y="2766218"/>
            <a:ext cx="10028767" cy="1325563"/>
          </a:xfrm>
        </p:spPr>
        <p:txBody>
          <a:bodyPr>
            <a:noAutofit/>
          </a:bodyPr>
          <a:lstStyle/>
          <a:p>
            <a:pPr algn="ctr"/>
            <a:r>
              <a:rPr lang="en-US" sz="8000" dirty="0"/>
              <a:t>Thank you!</a:t>
            </a:r>
            <a:br>
              <a:rPr lang="en-US" sz="8000" dirty="0"/>
            </a:br>
            <a:r>
              <a:rPr lang="en-US" sz="2400" dirty="0" err="1"/>
              <a:t>Github</a:t>
            </a:r>
            <a:r>
              <a:rPr lang="en-US" sz="2400" dirty="0"/>
              <a:t> repo: https://github.com/georgephung123/MSAR_Course_Consult</a:t>
            </a:r>
          </a:p>
        </p:txBody>
      </p:sp>
    </p:spTree>
    <p:extLst>
      <p:ext uri="{BB962C8B-B14F-4D97-AF65-F5344CB8AC3E}">
        <p14:creationId xmlns:p14="http://schemas.microsoft.com/office/powerpoint/2010/main" val="3097650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4BFAFF644FAF4FA04600AC54340588" ma:contentTypeVersion="6" ma:contentTypeDescription="Create a new document." ma:contentTypeScope="" ma:versionID="e2ad9896c38ba8f2e8fbffed61ca1e05">
  <xsd:schema xmlns:xsd="http://www.w3.org/2001/XMLSchema" xmlns:xs="http://www.w3.org/2001/XMLSchema" xmlns:p="http://schemas.microsoft.com/office/2006/metadata/properties" xmlns:ns3="7f441578-6221-4376-8ce6-60a772b8ffab" targetNamespace="http://schemas.microsoft.com/office/2006/metadata/properties" ma:root="true" ma:fieldsID="8d797c5d037715e70c615c48b602449b" ns3:_="">
    <xsd:import namespace="7f441578-6221-4376-8ce6-60a772b8ffa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41578-6221-4376-8ce6-60a772b8ffa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441578-6221-4376-8ce6-60a772b8ffab" xsi:nil="true"/>
  </documentManagement>
</p:properties>
</file>

<file path=customXml/itemProps1.xml><?xml version="1.0" encoding="utf-8"?>
<ds:datastoreItem xmlns:ds="http://schemas.openxmlformats.org/officeDocument/2006/customXml" ds:itemID="{F4810B37-0855-4450-9C32-C6BC2A862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58B0FA-4823-4910-85CD-C6660BE53D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441578-6221-4376-8ce6-60a772b8ff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363BA3-762C-463F-93F3-01CBC8DE6D1D}">
  <ds:schemaRefs>
    <ds:schemaRef ds:uri="7f441578-6221-4376-8ce6-60a772b8ffab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2225</TotalTime>
  <Words>686</Words>
  <Application>Microsoft Office PowerPoint</Application>
  <PresentationFormat>Widescreen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Corbel</vt:lpstr>
      <vt:lpstr>Depth</vt:lpstr>
      <vt:lpstr>MSAR Findings</vt:lpstr>
      <vt:lpstr>Introduction</vt:lpstr>
      <vt:lpstr>Data Parsing</vt:lpstr>
      <vt:lpstr>A look at the raw data extracted</vt:lpstr>
      <vt:lpstr>Data Cleaning</vt:lpstr>
      <vt:lpstr>Pre-Data Analysis findings</vt:lpstr>
      <vt:lpstr>Data Analysis </vt:lpstr>
      <vt:lpstr>Basic statistics </vt:lpstr>
      <vt:lpstr>Other classes</vt:lpstr>
      <vt:lpstr>PowerPoint Presentation</vt:lpstr>
      <vt:lpstr>PowerPoint Presentation</vt:lpstr>
      <vt:lpstr>PowerPoint Presentation</vt:lpstr>
      <vt:lpstr>Key Insights and Findings </vt:lpstr>
      <vt:lpstr>Conclusion</vt:lpstr>
      <vt:lpstr>Data Outputs </vt:lpstr>
      <vt:lpstr>What’s next?</vt:lpstr>
      <vt:lpstr>Thank you! Github repo: https://github.com/georgephung123/MSAR_Course_Consult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Phung, George</dc:creator>
  <cp:lastModifiedBy>Phung, George</cp:lastModifiedBy>
  <cp:revision>26</cp:revision>
  <dcterms:created xsi:type="dcterms:W3CDTF">2025-11-11T18:19:29Z</dcterms:created>
  <dcterms:modified xsi:type="dcterms:W3CDTF">2025-12-10T20:13:23Z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0x010100844BFAFF644FAF4FA04600AC54340588</vt:lpwstr>
  </property>
</Properties>
</file>