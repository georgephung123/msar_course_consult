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259" r:id="rId6"/>
    <p:sldId id="260" r:id="rId7"/>
    <p:sldId id="263" r:id="rId8"/>
    <p:sldId id="261" r:id="rId9"/>
    <p:sldId id="262" r:id="rId10"/>
    <p:sldId id="25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97" autoAdjust="0"/>
    <p:restoredTop sz="94636"/>
  </p:normalViewPr>
  <p:slideViewPr>
    <p:cSldViewPr snapToGrid="0">
      <p:cViewPr varScale="1">
        <p:scale>
          <a:sx n="71" d="100"/>
          <a:sy n="71" d="100"/>
        </p:scale>
        <p:origin x="41" y="2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2A25F1-9CB4-574D-9A10-2031563C4788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0CD82-A17D-DA42-BDBA-66B24A274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206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B0CD82-A17D-DA42-BDBA-66B24A274F0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625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CBF1D-F1D0-0A7D-14AE-B3BB54124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768AFB-F612-082D-6CF8-997D77B961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43DF1-4EC3-9628-936D-38F7C81A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8FABF-7BBB-4FC4-B3E3-346BCB227DD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3F615-E9D0-F1F6-9BBA-FC95B6289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A6553-2DDB-3F3D-C82E-840EDC72D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AC1D0-1CA9-43A5-9D0A-47AC69F14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016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42244-F25B-87E7-1145-39ADCA78C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39200-13D8-692A-B94B-CC188C11F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57959-3AED-7D04-92ED-2FBCEA46E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8FABF-7BBB-4FC4-B3E3-346BCB227DD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93E2A-4641-EB8D-D242-64E1E8EB0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6AD54-CC33-0948-782D-3D13A0321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AC1D0-1CA9-43A5-9D0A-47AC69F14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951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0D822-9ECB-B510-A378-CBA1DA58A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3B01E2-9FC4-AE05-94DE-2847E3234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9F6ED-146C-EE8E-4E78-C162CD44D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8FABF-7BBB-4FC4-B3E3-346BCB227DD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06B29-F44B-3ACD-8DF3-DA39C0DA9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B0765-9A64-4BE5-37FF-94F2654E2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AC1D0-1CA9-43A5-9D0A-47AC69F14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812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DFFEA-4A12-45DB-878E-8430B55CC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FAD65-BC6B-48E7-8D54-0BB88ABBDB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2A7CB7-A811-6F29-B517-ECC65AE03E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EB5F5-C4C0-0156-BD4C-862E78209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8FABF-7BBB-4FC4-B3E3-346BCB227DD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3AC297-C4C0-77A3-7433-BBA96C3E0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0DFA1-C8AB-6682-D51D-CE9DDBCF3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AC1D0-1CA9-43A5-9D0A-47AC69F14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003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E1115-28C6-C191-6684-287EA2ED3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FBBEB1-D601-AB76-985B-DC304EDE0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D2405B-D021-DCF5-E732-645CC40B6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A0AD8A-64C4-D32B-2970-84D2A9B97E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4A0DE4-AD33-DC68-FE51-CBCDB06E29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735189-7EC0-2A93-C997-396F48315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8FABF-7BBB-4FC4-B3E3-346BCB227DD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324A8D-A5CC-6E10-2853-769967136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6E6A10-487A-CA93-942A-F8299586E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AC1D0-1CA9-43A5-9D0A-47AC69F14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873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35041-F0F4-205C-B242-8E616D3AD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8411EC-9F15-73DA-8764-E3FFF8E6A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8FABF-7BBB-4FC4-B3E3-346BCB227DD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3B55AE-5634-EBD8-4900-C788B6640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80D6D9-15CF-8C98-BCA6-D87B7873F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AC1D0-1CA9-43A5-9D0A-47AC69F14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68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3CD383-607D-859A-20FD-D23888EC8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8FABF-7BBB-4FC4-B3E3-346BCB227DD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731940-C5CC-1BA8-18B3-5D315C549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37107-DEC2-02DB-77A7-6844B01B8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AC1D0-1CA9-43A5-9D0A-47AC69F14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797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3CB02-44B9-F8E1-E4D4-9D1E2096D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570D5-F31D-8866-F0E5-A6D734183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B6D82E-5CE7-DEC9-3416-FBDC48A241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9D2747-8805-AB7B-56A2-C3E68F7E8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8FABF-7BBB-4FC4-B3E3-346BCB227DD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713DEF-FF19-C2E3-427B-BCEDBD1D3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1EC07B-6B22-A1BE-A746-F26EDC64E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AC1D0-1CA9-43A5-9D0A-47AC69F14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068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96F47-EAC4-F55F-78CD-6EC2CC101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43BB20-CF60-182E-5593-67B026A8D1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1DAD3F-5DA1-2B78-073D-3B6314C26F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5BCFC1-48EC-F3A7-95FB-66891398E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8FABF-7BBB-4FC4-B3E3-346BCB227DD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FD45F0-AEC2-9C6F-263A-1E3445995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492DDE-CB15-9782-36CF-C2AF09A5E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AC1D0-1CA9-43A5-9D0A-47AC69F14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590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A49A3-7D51-FB8D-7722-5A73AE9EB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817205-7636-4418-5D19-C6BEA4ADE7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10170-BB98-EF9E-6542-C838B7147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8FABF-7BBB-4FC4-B3E3-346BCB227DD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549AF-8F44-D3DC-9851-7101BBED1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19638-049D-C40F-D7F9-CBDFBCD4F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AC1D0-1CA9-43A5-9D0A-47AC69F14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819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FC4924-7E07-F810-86F3-37F82DBDC0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7F1503-D277-0E02-8D51-0A248F9BC4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9C3BC-3610-B79A-F7CC-86D4AFFE0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8FABF-7BBB-4FC4-B3E3-346BCB227DD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B5B9D-6904-5DC6-6D68-EC02AA3DE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6B2A0-E10E-97F1-D535-EDBF025E9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AC1D0-1CA9-43A5-9D0A-47AC69F14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583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E3F8DB-1FB5-FF5D-C408-3BB4CBCAB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E4436-822D-96BE-342B-61DDE2BE4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5291E-B664-183F-B876-80081506C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98FABF-7BBB-4FC4-B3E3-346BCB227DD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EF31D-27A6-A701-42B2-C2A28D7965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9456C-E7B5-6D24-7AB9-90716BA598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3AC1D0-1CA9-43A5-9D0A-47AC69F14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801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86274-BBC9-8900-3263-CFEA1174D2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MSAR Findings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EF6697-2460-47BB-83AD-C9EA6BAFA5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George Phung</a:t>
            </a:r>
          </a:p>
        </p:txBody>
      </p:sp>
    </p:spTree>
    <p:extLst>
      <p:ext uri="{BB962C8B-B14F-4D97-AF65-F5344CB8AC3E}">
        <p14:creationId xmlns:p14="http://schemas.microsoft.com/office/powerpoint/2010/main" val="3441271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70BAC-F80F-A7A1-11E4-3B7494448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Findings/Edits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8DBFF-201D-E10F-412B-6F0F90BD5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 the Additional Info section, a quarter refers to a 10-week “session” compared the semester where a session typically lasts for 15 weeks</a:t>
            </a:r>
          </a:p>
          <a:p>
            <a:r>
              <a:rPr lang="en-US" dirty="0"/>
              <a:t>BCHM under Class stands for Behavioral and Social Sciences</a:t>
            </a:r>
          </a:p>
          <a:p>
            <a:r>
              <a:rPr lang="en-US" dirty="0"/>
              <a:t>Some medical schools uses AMCAS to determine which courses are eligible are not</a:t>
            </a:r>
          </a:p>
          <a:p>
            <a:r>
              <a:rPr lang="en-US" dirty="0"/>
              <a:t>Some medical schools accept online course credit, given if it was during the COVID-19 pandemic.</a:t>
            </a:r>
          </a:p>
          <a:p>
            <a:r>
              <a:rPr lang="en-US" dirty="0"/>
              <a:t>Most schools require 1 academic year of physics, English, chemistry, and biology.</a:t>
            </a:r>
          </a:p>
          <a:p>
            <a:r>
              <a:rPr lang="en-US" dirty="0"/>
              <a:t>There are also medical schools in Canada and Puerto Rico listed</a:t>
            </a:r>
          </a:p>
          <a:p>
            <a:r>
              <a:rPr lang="en-US" dirty="0"/>
              <a:t>Did more specific categorization based on the class column</a:t>
            </a:r>
          </a:p>
        </p:txBody>
      </p:sp>
    </p:spTree>
    <p:extLst>
      <p:ext uri="{BB962C8B-B14F-4D97-AF65-F5344CB8AC3E}">
        <p14:creationId xmlns:p14="http://schemas.microsoft.com/office/powerpoint/2010/main" val="1374597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47420-FA2F-EF2E-64D9-077CE83D2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Very basic statistics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2EB0E-E86C-E1B6-89C4-FC457FF41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Schools w/ online BCHM:</a:t>
            </a:r>
          </a:p>
          <a:p>
            <a:pPr lvl="1"/>
            <a:r>
              <a:rPr lang="en-US" dirty="0"/>
              <a:t>Schools that allow online BCHM: 76 (59.4%)</a:t>
            </a:r>
          </a:p>
          <a:p>
            <a:pPr lvl="1"/>
            <a:r>
              <a:rPr lang="en-US" dirty="0"/>
              <a:t>Schools that do not allow online BCHM: 24 (18.4%)</a:t>
            </a:r>
          </a:p>
          <a:p>
            <a:pPr lvl="1"/>
            <a:r>
              <a:rPr lang="en-US" dirty="0"/>
              <a:t>Case-by-Case: 28 (21.9%)</a:t>
            </a:r>
          </a:p>
          <a:p>
            <a:r>
              <a:rPr lang="en-US" dirty="0"/>
              <a:t>Schools w/ CC BCHM:</a:t>
            </a:r>
          </a:p>
          <a:p>
            <a:pPr lvl="1"/>
            <a:r>
              <a:rPr lang="en-US" dirty="0"/>
              <a:t>Schools that allow BCHM from CC: 101 (78.9%)</a:t>
            </a:r>
          </a:p>
          <a:p>
            <a:pPr lvl="1"/>
            <a:r>
              <a:rPr lang="en-US" dirty="0"/>
              <a:t>Schools that do not allow BCHM from CC: 16 (12.5%)</a:t>
            </a:r>
          </a:p>
          <a:p>
            <a:pPr lvl="1"/>
            <a:r>
              <a:rPr lang="en-US" dirty="0"/>
              <a:t>Case-by-Case: 11 (8.6%)</a:t>
            </a:r>
          </a:p>
        </p:txBody>
      </p:sp>
    </p:spTree>
    <p:extLst>
      <p:ext uri="{BB962C8B-B14F-4D97-AF65-F5344CB8AC3E}">
        <p14:creationId xmlns:p14="http://schemas.microsoft.com/office/powerpoint/2010/main" val="1042174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E47C5-744A-CE22-468E-01B2E15FB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CF575-3333-776D-5049-233BCAD12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Schools w/ online BESS:</a:t>
            </a:r>
          </a:p>
          <a:p>
            <a:pPr lvl="1"/>
            <a:r>
              <a:rPr lang="en-US" dirty="0"/>
              <a:t>Schools that allow online BESS: 10 (52.6%)</a:t>
            </a:r>
          </a:p>
          <a:p>
            <a:pPr lvl="1"/>
            <a:r>
              <a:rPr lang="en-US" dirty="0"/>
              <a:t>Schools that do not allow online BESS: 2 (10.5%)</a:t>
            </a:r>
          </a:p>
          <a:p>
            <a:pPr lvl="1"/>
            <a:r>
              <a:rPr lang="en-US" dirty="0"/>
              <a:t>Case-by-Case: 7 (36.8%)</a:t>
            </a:r>
          </a:p>
          <a:p>
            <a:r>
              <a:rPr lang="en-US" dirty="0"/>
              <a:t>Schools w/ online BIOL:</a:t>
            </a:r>
          </a:p>
          <a:p>
            <a:pPr lvl="1"/>
            <a:r>
              <a:rPr lang="en-US" dirty="0"/>
              <a:t>Schools that allow online BIOL: 200 (59.0%)</a:t>
            </a:r>
          </a:p>
          <a:p>
            <a:pPr lvl="1"/>
            <a:r>
              <a:rPr lang="en-US" dirty="0"/>
              <a:t>Schools that do not allow online BIOL: 47 (13.9%)</a:t>
            </a:r>
          </a:p>
          <a:p>
            <a:pPr lvl="1"/>
            <a:r>
              <a:rPr lang="en-US" dirty="0"/>
              <a:t>Case-by-Case: 92 (27.1%)</a:t>
            </a:r>
          </a:p>
          <a:p>
            <a:r>
              <a:rPr lang="en-US" dirty="0"/>
              <a:t>A Kruskal-Wallis test found no significant relationship between course type and medical-school acceptance ratios (p = 0.41).</a:t>
            </a:r>
          </a:p>
        </p:txBody>
      </p:sp>
    </p:spTree>
    <p:extLst>
      <p:ext uri="{BB962C8B-B14F-4D97-AF65-F5344CB8AC3E}">
        <p14:creationId xmlns:p14="http://schemas.microsoft.com/office/powerpoint/2010/main" val="2376397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p of the united states of america&#10;&#10;AI-generated content may be incorrect.">
            <a:extLst>
              <a:ext uri="{FF2B5EF4-FFF2-40B4-BE49-F238E27FC236}">
                <a16:creationId xmlns:a16="http://schemas.microsoft.com/office/drawing/2014/main" id="{DD73ACAF-6CBC-223B-32E2-4BF861D388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753"/>
          <a:stretch>
            <a:fillRect/>
          </a:stretch>
        </p:blipFill>
        <p:spPr>
          <a:xfrm>
            <a:off x="758671" y="674733"/>
            <a:ext cx="10499576" cy="5196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140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CCBD64-4796-F920-2AB2-14875D521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940" y="437732"/>
            <a:ext cx="10536120" cy="598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4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896D9D3-0656-3758-36F2-3855671E76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21" y="0"/>
            <a:ext cx="63731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090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f441578-6221-4376-8ce6-60a772b8ffa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4BFAFF644FAF4FA04600AC54340588" ma:contentTypeVersion="6" ma:contentTypeDescription="Create a new document." ma:contentTypeScope="" ma:versionID="e2ad9896c38ba8f2e8fbffed61ca1e05">
  <xsd:schema xmlns:xsd="http://www.w3.org/2001/XMLSchema" xmlns:xs="http://www.w3.org/2001/XMLSchema" xmlns:p="http://schemas.microsoft.com/office/2006/metadata/properties" xmlns:ns3="7f441578-6221-4376-8ce6-60a772b8ffab" targetNamespace="http://schemas.microsoft.com/office/2006/metadata/properties" ma:root="true" ma:fieldsID="8d797c5d037715e70c615c48b602449b" ns3:_="">
    <xsd:import namespace="7f441578-6221-4376-8ce6-60a772b8ffa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441578-6221-4376-8ce6-60a772b8ffa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363BA3-762C-463F-93F3-01CBC8DE6D1D}">
  <ds:schemaRefs>
    <ds:schemaRef ds:uri="7f441578-6221-4376-8ce6-60a772b8ffab"/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www.w3.org/XML/1998/namespace"/>
    <ds:schemaRef ds:uri="http://schemas.microsoft.com/office/infopath/2007/PartnerControl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F4810B37-0855-4450-9C32-C6BC2A8620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058B0FA-4823-4910-85CD-C6660BE53D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f441578-6221-4376-8ce6-60a772b8ffa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1864</TotalTime>
  <Words>274</Words>
  <Application>Microsoft Office PowerPoint</Application>
  <PresentationFormat>Widescreen</PresentationFormat>
  <Paragraphs>30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MSAR Findings</vt:lpstr>
      <vt:lpstr>Various Findings/Edits</vt:lpstr>
      <vt:lpstr>Very basic statistics </vt:lpstr>
      <vt:lpstr>Other classes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Phung, George</dc:creator>
  <cp:lastModifiedBy>Phung, George</cp:lastModifiedBy>
  <cp:revision>10</cp:revision>
  <dcterms:created xsi:type="dcterms:W3CDTF">2025-11-11T18:19:29Z</dcterms:created>
  <dcterms:modified xsi:type="dcterms:W3CDTF">2025-11-20T18:52:12Z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0x010100844BFAFF644FAF4FA04600AC54340588</vt:lpwstr>
  </property>
</Properties>
</file>